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67" r:id="rId4"/>
    <p:sldId id="258" r:id="rId5"/>
    <p:sldId id="26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487" autoAdjust="0"/>
  </p:normalViewPr>
  <p:slideViewPr>
    <p:cSldViewPr snapToGrid="0" snapToObjects="1">
      <p:cViewPr>
        <p:scale>
          <a:sx n="66" d="100"/>
          <a:sy n="66" d="100"/>
        </p:scale>
        <p:origin x="128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084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Dobrý</a:t>
            </a:r>
            <a:r>
              <a:rPr dirty="0"/>
              <a:t> den, my </a:t>
            </a:r>
            <a:r>
              <a:rPr dirty="0" err="1"/>
              <a:t>jsme</a:t>
            </a:r>
            <a:r>
              <a:rPr dirty="0"/>
              <a:t> </a:t>
            </a:r>
            <a:r>
              <a:rPr dirty="0" err="1"/>
              <a:t>tým</a:t>
            </a:r>
            <a:r>
              <a:rPr dirty="0"/>
              <a:t> Adam, Jakub a Antonín. </a:t>
            </a:r>
            <a:r>
              <a:rPr dirty="0" err="1"/>
              <a:t>Naší</a:t>
            </a:r>
            <a:r>
              <a:rPr dirty="0"/>
              <a:t> </a:t>
            </a:r>
            <a:r>
              <a:rPr dirty="0" err="1"/>
              <a:t>úlohou</a:t>
            </a:r>
            <a:r>
              <a:rPr dirty="0"/>
              <a:t> </a:t>
            </a:r>
            <a:r>
              <a:rPr dirty="0" err="1"/>
              <a:t>bylo</a:t>
            </a:r>
            <a:r>
              <a:rPr dirty="0"/>
              <a:t> </a:t>
            </a:r>
            <a:r>
              <a:rPr dirty="0" err="1"/>
              <a:t>naprogramovat</a:t>
            </a:r>
            <a:r>
              <a:rPr dirty="0"/>
              <a:t> </a:t>
            </a:r>
            <a:r>
              <a:rPr dirty="0" err="1"/>
              <a:t>robota</a:t>
            </a:r>
            <a:r>
              <a:rPr dirty="0"/>
              <a:t> TurtleBot, aby </a:t>
            </a:r>
            <a:r>
              <a:rPr dirty="0" err="1"/>
              <a:t>autonomně</a:t>
            </a:r>
            <a:r>
              <a:rPr dirty="0"/>
              <a:t> </a:t>
            </a:r>
            <a:r>
              <a:rPr dirty="0" err="1"/>
              <a:t>opustil</a:t>
            </a:r>
            <a:r>
              <a:rPr dirty="0"/>
              <a:t> </a:t>
            </a:r>
            <a:r>
              <a:rPr dirty="0" err="1"/>
              <a:t>garáž</a:t>
            </a:r>
            <a:r>
              <a:rPr dirty="0"/>
              <a:t>, </a:t>
            </a:r>
            <a:r>
              <a:rPr dirty="0" err="1"/>
              <a:t>našel</a:t>
            </a:r>
            <a:r>
              <a:rPr dirty="0"/>
              <a:t> </a:t>
            </a:r>
            <a:r>
              <a:rPr dirty="0" err="1"/>
              <a:t>zelený</a:t>
            </a:r>
            <a:r>
              <a:rPr dirty="0"/>
              <a:t> </a:t>
            </a:r>
            <a:r>
              <a:rPr dirty="0" err="1"/>
              <a:t>míček</a:t>
            </a:r>
            <a:r>
              <a:rPr dirty="0"/>
              <a:t> – pilon – </a:t>
            </a:r>
            <a:r>
              <a:rPr dirty="0" err="1"/>
              <a:t>objel</a:t>
            </a:r>
            <a:r>
              <a:rPr dirty="0"/>
              <a:t> ho a </a:t>
            </a:r>
            <a:r>
              <a:rPr dirty="0" err="1"/>
              <a:t>vrátil</a:t>
            </a:r>
            <a:r>
              <a:rPr dirty="0"/>
              <a:t> se </a:t>
            </a:r>
            <a:r>
              <a:rPr dirty="0" err="1"/>
              <a:t>zpátky</a:t>
            </a:r>
            <a:r>
              <a:rPr dirty="0"/>
              <a:t> do </a:t>
            </a:r>
            <a:r>
              <a:rPr dirty="0" err="1"/>
              <a:t>garáže</a:t>
            </a:r>
            <a:r>
              <a:rPr dirty="0"/>
              <a:t>. </a:t>
            </a:r>
            <a:r>
              <a:rPr dirty="0" err="1"/>
              <a:t>Zvládli</a:t>
            </a:r>
            <a:r>
              <a:rPr dirty="0"/>
              <a:t> </a:t>
            </a:r>
            <a:r>
              <a:rPr dirty="0" err="1"/>
              <a:t>jsme</a:t>
            </a:r>
            <a:r>
              <a:rPr dirty="0"/>
              <a:t> </a:t>
            </a:r>
            <a:r>
              <a:rPr dirty="0" err="1"/>
              <a:t>splnit</a:t>
            </a:r>
            <a:r>
              <a:rPr dirty="0"/>
              <a:t> </a:t>
            </a:r>
            <a:r>
              <a:rPr lang="cs-CZ" dirty="0"/>
              <a:t>první</a:t>
            </a:r>
            <a:r>
              <a:rPr dirty="0"/>
              <a:t> </a:t>
            </a:r>
            <a:r>
              <a:rPr dirty="0" err="1"/>
              <a:t>úroveň</a:t>
            </a:r>
            <a:r>
              <a:rPr dirty="0"/>
              <a:t> </a:t>
            </a:r>
            <a:r>
              <a:rPr dirty="0" err="1"/>
              <a:t>zadání</a:t>
            </a:r>
            <a:r>
              <a:rPr dirty="0"/>
              <a:t>, </a:t>
            </a:r>
            <a:r>
              <a:rPr dirty="0" err="1"/>
              <a:t>tedy</a:t>
            </a:r>
            <a:r>
              <a:rPr dirty="0"/>
              <a:t> </a:t>
            </a:r>
            <a:r>
              <a:rPr dirty="0" err="1"/>
              <a:t>objet</a:t>
            </a:r>
            <a:r>
              <a:rPr lang="cs-CZ" dirty="0"/>
              <a:t>í.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Robot startuje uvnitř garáže a celou cestu musí zvládnout naprosto sám – po stisknutí tlačítka ho už nikdo neřídí. Musí vyjít z garáže, najít pilon vzdálený 0.5 až 5 metrů, objet ho tak, aby byl uvnitř jeho trajektorie, a zaparkovat zpátky. Mechanický nárazník musí být vždy aktivní – pokud robot do něčeho narazí, okamžitě zastaví.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16CDA-EBC1-82CB-EA60-3648DBCB1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E457B2-84FA-6D9B-E384-934AAE7131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BF499E-C673-0076-10A6-BEF2C32CFF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7287F-4110-C323-C2DB-A1BFD18403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30457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Naše řešení má šest kroků. Nejprve robot hledá garáž otáčením – to nám pomohlo správně zorientovat robota před výjezdem. Pak hledá míček, vycentruje se na něj, přiblíží se a provede odometrický manévr objetí. Každý krok je v samostatném Python modulu. Sdílená proměnná v safety.py zajistí okamžité zastavení při aktivaci nárazníku.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D9D6A-C315-BBBE-11D4-BD3A0A026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D6559-8FAC-E6BC-014C-CDE7E99081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EB687F-5DD4-EB1E-E9C0-0523A330BD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main.py (Řídící smyčka, orchestrace):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"Tento modul funguje jako hlavní mozek a vstupní bod celého programu. Řídí sekvenci chování robota jako stavový automat – od čekání na startovací tlačítko, přes zavolání funkcí pro vyhledání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pilonu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jeho objetí, až po finální návrat do garáže. Zároveň je zde registrován hlavní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callback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 nárazník." </a:t>
            </a: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vision.py (HSV 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prahování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CCL, detekce):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"Zde je soustředěno veškeré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nízkoúrovňové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zpracování obrazu. Modul se stará o převod RGB snímků do HSV, aplikuje binární masky a pomocí algoritmu CCL (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Connected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Component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Labeling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analyzuje souvislé oblasti, u kterých počítá těžiště. Dále extrahuje a průměruje 3D body z Point Cloudu." </a:t>
            </a: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detection.py (Aktivní vyhledávání 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pilonu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"Tento modul se stará o to, aby robot cíl vůbec uviděl. Jednoduše otáčí robotem na místě tak dlouho, dokud funkce z modulu vision.py nepotvrdí, že v obraze detekovaly objekt odpovídající profilu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pilonu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movement.py (Centrování, přibližování):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"Tento modul má na starosti P-regulaci pro centrování robota na cíl (aby měl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pilon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stále uprostřed obrazu). Dále realizuje vícefázové přibližování pomocí hloubkových dat, tedy dojezd k cíli v krocích 1.0 m, 0.5 m a finálních 0.3 m." </a:t>
            </a: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drive_around.py (Objížděcí manévr, 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odometrie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"Modul, který realizuje samotné objetí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pilonu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Jedná se o tzv. open-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loop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sekvenci (bez vizuální zpětné vazby), která se spoléhá čistě na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odometrii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Robot jede podle předem nadefinované posloupnosti rotací a přímých úseků (šestiúhelník)." </a:t>
            </a: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safety.py (Sdílený 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emergency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stav):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"Tento kritický modul zajišťuje sdílený nouzový stav. Obsahuje globální proměnnou, ke které mají přístup všechny ostatní moduly a která umožňuje okamžité ukončení všech pohybů, pokud dojde k aktivaci nárazníku." 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94CCF-9F92-FF0A-E714-962CF63B45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55502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Míček detekujeme pomocí HSV prahování. Převedeme obraz z kamery do HSV prostoru a vytvoříme binární masku – pixely v rozsahu H 37-74, S 98-255, V 25-255 jsou zelené jako náš míček. Pak použijeme connected component analysis – hledáme oblasti správné velikosti 200 až 8000 pixelů a dostatečně kulatého tvaru, poměr stran alespoň 0.75. Pro branku garáže stejný postup, jen jiné HSV hodnoty pro fialovou barvu. Pokud míček hned nevidíme, robot se otáčí dokud ho nenajde.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Jakmile</a:t>
            </a:r>
            <a:r>
              <a:rPr dirty="0"/>
              <a:t> </a:t>
            </a:r>
            <a:r>
              <a:rPr dirty="0" err="1"/>
              <a:t>míček</a:t>
            </a:r>
            <a:r>
              <a:rPr dirty="0"/>
              <a:t> </a:t>
            </a:r>
            <a:r>
              <a:rPr dirty="0" err="1"/>
              <a:t>najdeme</a:t>
            </a:r>
            <a:r>
              <a:rPr dirty="0"/>
              <a:t>, </a:t>
            </a:r>
            <a:r>
              <a:rPr dirty="0" err="1"/>
              <a:t>vycentrujeme</a:t>
            </a:r>
            <a:r>
              <a:rPr dirty="0"/>
              <a:t> ho do </a:t>
            </a:r>
            <a:r>
              <a:rPr dirty="0" err="1"/>
              <a:t>středu</a:t>
            </a:r>
            <a:r>
              <a:rPr dirty="0"/>
              <a:t> </a:t>
            </a:r>
            <a:r>
              <a:rPr dirty="0" err="1"/>
              <a:t>obrazu</a:t>
            </a:r>
            <a:r>
              <a:rPr dirty="0"/>
              <a:t>. </a:t>
            </a:r>
            <a:r>
              <a:rPr dirty="0" err="1"/>
              <a:t>Obraz</a:t>
            </a:r>
            <a:r>
              <a:rPr dirty="0"/>
              <a:t> </a:t>
            </a:r>
            <a:r>
              <a:rPr dirty="0" err="1"/>
              <a:t>má</a:t>
            </a:r>
            <a:r>
              <a:rPr dirty="0"/>
              <a:t> 640 </a:t>
            </a:r>
            <a:r>
              <a:rPr dirty="0" err="1"/>
              <a:t>pixelů</a:t>
            </a:r>
            <a:r>
              <a:rPr dirty="0"/>
              <a:t> </a:t>
            </a:r>
            <a:r>
              <a:rPr dirty="0" err="1"/>
              <a:t>šířky</a:t>
            </a:r>
            <a:r>
              <a:rPr dirty="0"/>
              <a:t>, </a:t>
            </a:r>
            <a:r>
              <a:rPr dirty="0" err="1"/>
              <a:t>střed</a:t>
            </a:r>
            <a:r>
              <a:rPr dirty="0"/>
              <a:t> je 320. </a:t>
            </a:r>
            <a:r>
              <a:rPr dirty="0" err="1"/>
              <a:t>Chyba</a:t>
            </a:r>
            <a:r>
              <a:rPr dirty="0"/>
              <a:t> je </a:t>
            </a:r>
            <a:r>
              <a:rPr dirty="0" err="1"/>
              <a:t>vzdálenost</a:t>
            </a:r>
            <a:r>
              <a:rPr dirty="0"/>
              <a:t> </a:t>
            </a:r>
            <a:r>
              <a:rPr dirty="0" err="1"/>
              <a:t>středu</a:t>
            </a:r>
            <a:r>
              <a:rPr dirty="0"/>
              <a:t> </a:t>
            </a:r>
            <a:r>
              <a:rPr dirty="0" err="1"/>
              <a:t>míčku</a:t>
            </a:r>
            <a:r>
              <a:rPr dirty="0"/>
              <a:t> od </a:t>
            </a:r>
            <a:r>
              <a:rPr dirty="0" err="1"/>
              <a:t>středu</a:t>
            </a:r>
            <a:r>
              <a:rPr dirty="0"/>
              <a:t> </a:t>
            </a:r>
            <a:r>
              <a:rPr dirty="0" err="1"/>
              <a:t>obrazu</a:t>
            </a:r>
            <a:r>
              <a:rPr dirty="0"/>
              <a:t>. </a:t>
            </a:r>
            <a:r>
              <a:rPr dirty="0" err="1"/>
              <a:t>Úhlová</a:t>
            </a:r>
            <a:r>
              <a:rPr dirty="0"/>
              <a:t> </a:t>
            </a:r>
            <a:r>
              <a:rPr dirty="0" err="1"/>
              <a:t>rychlost</a:t>
            </a:r>
            <a:r>
              <a:rPr dirty="0"/>
              <a:t> je </a:t>
            </a:r>
            <a:r>
              <a:rPr dirty="0" err="1"/>
              <a:t>úměrná</a:t>
            </a:r>
            <a:r>
              <a:rPr dirty="0"/>
              <a:t> </a:t>
            </a:r>
            <a:r>
              <a:rPr dirty="0" err="1"/>
              <a:t>této</a:t>
            </a:r>
            <a:r>
              <a:rPr dirty="0"/>
              <a:t> </a:t>
            </a:r>
            <a:r>
              <a:rPr dirty="0" err="1"/>
              <a:t>chybě</a:t>
            </a:r>
            <a:r>
              <a:rPr dirty="0"/>
              <a:t> – </a:t>
            </a:r>
            <a:r>
              <a:rPr dirty="0" err="1"/>
              <a:t>jednoduchý</a:t>
            </a:r>
            <a:r>
              <a:rPr dirty="0"/>
              <a:t> P-</a:t>
            </a:r>
            <a:r>
              <a:rPr dirty="0" err="1"/>
              <a:t>regulátor</a:t>
            </a:r>
            <a:r>
              <a:rPr dirty="0"/>
              <a:t> s </a:t>
            </a:r>
            <a:r>
              <a:rPr dirty="0" err="1"/>
              <a:t>kP</a:t>
            </a:r>
            <a:r>
              <a:rPr dirty="0"/>
              <a:t> = 0.005. </a:t>
            </a:r>
            <a:r>
              <a:rPr dirty="0" err="1"/>
              <a:t>Přiblížení</a:t>
            </a:r>
            <a:r>
              <a:rPr dirty="0"/>
              <a:t> je </a:t>
            </a:r>
            <a:r>
              <a:rPr dirty="0" err="1"/>
              <a:t>vícefázové</a:t>
            </a:r>
            <a:r>
              <a:rPr dirty="0"/>
              <a:t>: </a:t>
            </a:r>
            <a:r>
              <a:rPr dirty="0" err="1"/>
              <a:t>nejprve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1 </a:t>
            </a:r>
            <a:r>
              <a:rPr dirty="0" err="1"/>
              <a:t>metr</a:t>
            </a:r>
            <a:r>
              <a:rPr dirty="0"/>
              <a:t>, pak </a:t>
            </a:r>
            <a:r>
              <a:rPr dirty="0" err="1"/>
              <a:t>na</a:t>
            </a:r>
            <a:r>
              <a:rPr dirty="0"/>
              <a:t> 0.5 m, pak </a:t>
            </a:r>
            <a:r>
              <a:rPr dirty="0" err="1"/>
              <a:t>finálně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0.3 m. Po </a:t>
            </a:r>
            <a:r>
              <a:rPr dirty="0" err="1"/>
              <a:t>každé</a:t>
            </a:r>
            <a:r>
              <a:rPr dirty="0"/>
              <a:t> </a:t>
            </a:r>
            <a:r>
              <a:rPr dirty="0" err="1"/>
              <a:t>fázi</a:t>
            </a:r>
            <a:r>
              <a:rPr dirty="0"/>
              <a:t> </a:t>
            </a:r>
            <a:r>
              <a:rPr dirty="0" err="1"/>
              <a:t>znovu</a:t>
            </a:r>
            <a:r>
              <a:rPr dirty="0"/>
              <a:t> </a:t>
            </a:r>
            <a:r>
              <a:rPr dirty="0" err="1"/>
              <a:t>centrujeme</a:t>
            </a:r>
            <a:r>
              <a:rPr dirty="0"/>
              <a:t> – to </a:t>
            </a:r>
            <a:r>
              <a:rPr dirty="0" err="1"/>
              <a:t>kompenzuje</a:t>
            </a:r>
            <a:r>
              <a:rPr dirty="0"/>
              <a:t> drift </a:t>
            </a:r>
            <a:r>
              <a:rPr dirty="0" err="1"/>
              <a:t>odometrie</a:t>
            </a:r>
            <a:r>
              <a:rPr dirty="0"/>
              <a:t>. </a:t>
            </a:r>
            <a:r>
              <a:rPr dirty="0" err="1"/>
              <a:t>Vzdálenost</a:t>
            </a:r>
            <a:r>
              <a:rPr dirty="0"/>
              <a:t> </a:t>
            </a:r>
            <a:r>
              <a:rPr dirty="0" err="1"/>
              <a:t>čteme</a:t>
            </a:r>
            <a:r>
              <a:rPr dirty="0"/>
              <a:t> z point </a:t>
            </a:r>
            <a:r>
              <a:rPr dirty="0" err="1"/>
              <a:t>cloudu</a:t>
            </a:r>
            <a:r>
              <a:rPr dirty="0"/>
              <a:t>, </a:t>
            </a:r>
            <a:r>
              <a:rPr dirty="0" err="1"/>
              <a:t>průměrujeme</a:t>
            </a:r>
            <a:r>
              <a:rPr dirty="0"/>
              <a:t> </a:t>
            </a:r>
            <a:r>
              <a:rPr dirty="0" err="1"/>
              <a:t>okno</a:t>
            </a:r>
            <a:r>
              <a:rPr dirty="0"/>
              <a:t> 5×5 </a:t>
            </a:r>
            <a:r>
              <a:rPr dirty="0" err="1"/>
              <a:t>pixelů</a:t>
            </a:r>
            <a:r>
              <a:rPr dirty="0"/>
              <a:t> </a:t>
            </a:r>
            <a:r>
              <a:rPr dirty="0" err="1"/>
              <a:t>kvůli</a:t>
            </a:r>
            <a:r>
              <a:rPr dirty="0"/>
              <a:t> </a:t>
            </a:r>
            <a:r>
              <a:rPr dirty="0" err="1"/>
              <a:t>šumu</a:t>
            </a:r>
            <a:r>
              <a:rPr dirty="0"/>
              <a:t> </a:t>
            </a:r>
            <a:r>
              <a:rPr dirty="0" err="1"/>
              <a:t>senzoru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zakřiveném</a:t>
            </a:r>
            <a:r>
              <a:rPr dirty="0"/>
              <a:t> </a:t>
            </a:r>
            <a:r>
              <a:rPr dirty="0" err="1"/>
              <a:t>povrchu</a:t>
            </a:r>
            <a:r>
              <a:rPr dirty="0"/>
              <a:t> </a:t>
            </a:r>
            <a:r>
              <a:rPr dirty="0" err="1"/>
              <a:t>míčku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Objetí je odometrický manévr – pevně definovaná sekvence pohybů bez globální mapy. Robot se otočí o -60°, pak pětkrát projede 40 cm a otočí se o +60°, na závěr krátký úsek a korekce -90°. Vznikne přibližně šestiúhelníkový oblouk kolem míčku. Otočení řídíme P-regulátorem na úhlové chybě z odometrie, přímé úseky také měříme odometrií. Je to jednoduché, výpočetně nenáročné a funguje bez globálního plánování trajektorie.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Splnili jsme první úroveň zadání – robot najde míček, přiblíží se a objede ho. Druhou úroveň – návrat do garáže – jsme implementovali, ale nepodařilo se nám ji doladit na dostatečnou spolehlivost. Hlavním problémem byla detekce fialových sloupků vjezdu, která byla citlivá na osvětlení v různých částech laboratoře. Kdybychom měli více času, použili bychom ArUco markery nebo adaptivní HSV kalibraci.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Testovali jsme celkem 10 pokusů. Detekce míčku a celá mise úspěšná v 90 % – selhání bylo vždy způsobeno ztrátou míčku ze zorného pole při horším osvětlení. Přiblížení a samotné objetí fungovalo v 100 % případů. Průměrná chyba finální vzdálenosti od míčku byla 5 cm. Bumper reagoval spolehlivě ve 100 % případů.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Největší výzvou byla závislost HSV prahování na osvětlení. Odometrie robotů je nepřesná – kompenzováno průběžným vizuálním centrováním. Bumper callback způsoboval duplicitní volání – vyřešeno latched proměnnou v safety.py. Omezení zorného pole kamery znamenalo stop na 0.3 m od míčku. Celkově jsme splnili první úroveň zadání s 90% úspěšností. Druhá úroveň – návrat do garáže – zůstala nesplněná kvůli nestabilní detekci vjezdu.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Objíždění pilonu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788920"/>
            <a:ext cx="3657600" cy="36576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8D0"/>
                </a:solidFill>
                <a:latin typeface="Calibri"/>
              </a:rPr>
              <a:t>Adam Solnař  ·  Jakub Peterka  ·  Antonín Šmída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D8D0"/>
                </a:solidFill>
                <a:latin typeface="Calibri"/>
              </a:rPr>
              <a:t>B3B33LAR – Laboratoře robotiky  ·  ČVUT FEL  ·  LS 2025/2026</a:t>
            </a:r>
          </a:p>
        </p:txBody>
      </p:sp>
      <p:sp>
        <p:nvSpPr>
          <p:cNvPr id="8" name="Oval 7"/>
          <p:cNvSpPr/>
          <p:nvPr/>
        </p:nvSpPr>
        <p:spPr>
          <a:xfrm>
            <a:off x="6400800" y="1188720"/>
            <a:ext cx="2743200" cy="274320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766560" y="1554480"/>
            <a:ext cx="2011680" cy="201168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223760" y="2011680"/>
            <a:ext cx="1097280" cy="109728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59436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 err="1">
                <a:solidFill>
                  <a:srgbClr val="52B788"/>
                </a:solidFill>
                <a:latin typeface="Calibri"/>
              </a:rPr>
              <a:t>Autonomní</a:t>
            </a:r>
            <a:r>
              <a:rPr sz="1700" b="0" i="0" dirty="0">
                <a:solidFill>
                  <a:srgbClr val="52B788"/>
                </a:solidFill>
                <a:latin typeface="Calibri"/>
              </a:rPr>
              <a:t> robot TurtleBot — </a:t>
            </a:r>
            <a:r>
              <a:rPr sz="1700" b="0" i="0" dirty="0" err="1">
                <a:solidFill>
                  <a:srgbClr val="52B788"/>
                </a:solidFill>
                <a:latin typeface="Calibri"/>
              </a:rPr>
              <a:t>hledání</a:t>
            </a:r>
            <a:r>
              <a:rPr lang="cs-CZ" sz="1700" dirty="0">
                <a:solidFill>
                  <a:srgbClr val="52B788"/>
                </a:solidFill>
                <a:latin typeface="Calibri"/>
              </a:rPr>
              <a:t> a</a:t>
            </a:r>
            <a:r>
              <a:rPr sz="1700" b="0" i="0" dirty="0">
                <a:solidFill>
                  <a:srgbClr val="52B788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52B788"/>
                </a:solidFill>
                <a:latin typeface="Calibri"/>
              </a:rPr>
              <a:t>objet</a:t>
            </a:r>
            <a:r>
              <a:rPr lang="cs-CZ" sz="1700" b="0" i="0" dirty="0">
                <a:solidFill>
                  <a:srgbClr val="52B788"/>
                </a:solidFill>
                <a:latin typeface="Calibri"/>
              </a:rPr>
              <a:t>í</a:t>
            </a:r>
            <a:endParaRPr sz="1700" b="0" i="0" dirty="0">
              <a:solidFill>
                <a:srgbClr val="52B78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Calibri"/>
              </a:rPr>
              <a:t>Zadání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Calibri"/>
              </a:rPr>
              <a:t>úlohy</a:t>
            </a:r>
            <a:endParaRPr sz="2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0120" y="90297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45920" y="1085850"/>
            <a:ext cx="640080" cy="64008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1201955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863090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 err="1">
                <a:solidFill>
                  <a:srgbClr val="1A2744"/>
                </a:solidFill>
                <a:latin typeface="Calibri"/>
              </a:rPr>
              <a:t>Vyj</a:t>
            </a:r>
            <a:r>
              <a:rPr lang="cs-CZ" sz="1400" b="1" dirty="0">
                <a:solidFill>
                  <a:srgbClr val="1A2744"/>
                </a:solidFill>
                <a:latin typeface="Calibri"/>
              </a:rPr>
              <a:t>et</a:t>
            </a:r>
            <a:r>
              <a:rPr sz="1400" b="1" i="0" dirty="0">
                <a:solidFill>
                  <a:srgbClr val="1A2744"/>
                </a:solidFill>
                <a:latin typeface="Calibri"/>
              </a:rPr>
              <a:t> z </a:t>
            </a:r>
            <a:r>
              <a:rPr sz="1400" b="1" i="0" dirty="0" err="1">
                <a:solidFill>
                  <a:srgbClr val="1A2744"/>
                </a:solidFill>
                <a:latin typeface="Calibri"/>
              </a:rPr>
              <a:t>garáže</a:t>
            </a:r>
            <a:endParaRPr sz="1400" b="1" i="0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566160" y="88011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251960" y="1062990"/>
            <a:ext cx="640080" cy="64008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51960" y="117789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84023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 err="1">
                <a:solidFill>
                  <a:srgbClr val="1A2744"/>
                </a:solidFill>
                <a:latin typeface="Calibri"/>
              </a:rPr>
              <a:t>Najít</a:t>
            </a:r>
            <a:r>
              <a:rPr sz="1400" b="1" i="0" dirty="0">
                <a:solidFill>
                  <a:srgbClr val="1A2744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1A2744"/>
                </a:solidFill>
                <a:latin typeface="Calibri"/>
              </a:rPr>
              <a:t>míček</a:t>
            </a:r>
            <a:endParaRPr sz="1400" b="1" i="0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0" y="243459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5C"/>
                </a:solidFill>
                <a:latin typeface="Calibri"/>
              </a:rPr>
              <a:t>Pilon = zelený míček, 0.5 – 5 m od garáže.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88011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858000" y="1062990"/>
            <a:ext cx="640080" cy="64008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0" y="117789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4023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744"/>
                </a:solidFill>
                <a:latin typeface="Calibri"/>
              </a:rPr>
              <a:t>Objet pilon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389120"/>
            <a:ext cx="8412480" cy="502920"/>
          </a:xfrm>
          <a:prstGeom prst="rect">
            <a:avLst/>
          </a:prstGeom>
          <a:solidFill>
            <a:srgbClr val="E8F5EE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434840"/>
            <a:ext cx="8046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2D6A4F"/>
                </a:solidFill>
                <a:latin typeface="Calibri"/>
              </a:rPr>
              <a:t>⚠  </a:t>
            </a:r>
            <a:r>
              <a:rPr sz="1200" b="1" i="0" dirty="0" err="1">
                <a:solidFill>
                  <a:srgbClr val="2D6A4F"/>
                </a:solidFill>
                <a:latin typeface="Calibri"/>
              </a:rPr>
              <a:t>Bezpečnostní</a:t>
            </a:r>
            <a:r>
              <a:rPr sz="1200" b="1" i="0" dirty="0">
                <a:solidFill>
                  <a:srgbClr val="2D6A4F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2D6A4F"/>
                </a:solidFill>
                <a:latin typeface="Calibri"/>
              </a:rPr>
              <a:t>nárazník</a:t>
            </a:r>
            <a:r>
              <a:rPr sz="1200" b="1" i="0" dirty="0">
                <a:solidFill>
                  <a:srgbClr val="2D6A4F"/>
                </a:solidFill>
                <a:latin typeface="Calibri"/>
              </a:rPr>
              <a:t>: </a:t>
            </a:r>
            <a:r>
              <a:rPr sz="1200" b="1" i="0" dirty="0" err="1">
                <a:solidFill>
                  <a:srgbClr val="2D6A4F"/>
                </a:solidFill>
                <a:latin typeface="Calibri"/>
              </a:rPr>
              <a:t>při</a:t>
            </a:r>
            <a:r>
              <a:rPr sz="1200" b="1" i="0" dirty="0">
                <a:solidFill>
                  <a:srgbClr val="2D6A4F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2D6A4F"/>
                </a:solidFill>
                <a:latin typeface="Calibri"/>
              </a:rPr>
              <a:t>aktivaci</a:t>
            </a:r>
            <a:r>
              <a:rPr sz="1200" b="1" i="0" dirty="0">
                <a:solidFill>
                  <a:srgbClr val="2D6A4F"/>
                </a:solidFill>
                <a:latin typeface="Calibri"/>
              </a:rPr>
              <a:t> robot </a:t>
            </a:r>
            <a:r>
              <a:rPr sz="1200" b="1" i="0" dirty="0" err="1">
                <a:solidFill>
                  <a:srgbClr val="2D6A4F"/>
                </a:solidFill>
                <a:latin typeface="Calibri"/>
              </a:rPr>
              <a:t>okamžitě</a:t>
            </a:r>
            <a:r>
              <a:rPr sz="1200" b="1" i="0" dirty="0">
                <a:solidFill>
                  <a:srgbClr val="2D6A4F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2D6A4F"/>
                </a:solidFill>
                <a:latin typeface="Calibri"/>
              </a:rPr>
              <a:t>zastaví</a:t>
            </a:r>
            <a:r>
              <a:rPr sz="1200" b="1" i="0" dirty="0">
                <a:solidFill>
                  <a:srgbClr val="2D6A4F"/>
                </a:solidFill>
                <a:latin typeface="Calibri"/>
              </a:rPr>
              <a:t> a </a:t>
            </a:r>
            <a:r>
              <a:rPr sz="1200" b="1" i="0" dirty="0" err="1">
                <a:solidFill>
                  <a:srgbClr val="2D6A4F"/>
                </a:solidFill>
                <a:latin typeface="Calibri"/>
              </a:rPr>
              <a:t>ukončí</a:t>
            </a:r>
            <a:r>
              <a:rPr sz="1200" b="1" i="0" dirty="0">
                <a:solidFill>
                  <a:srgbClr val="2D6A4F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2D6A4F"/>
                </a:solidFill>
                <a:latin typeface="Calibri"/>
              </a:rPr>
              <a:t>jízdu</a:t>
            </a:r>
            <a:r>
              <a:rPr sz="1200" b="1" i="0" dirty="0">
                <a:solidFill>
                  <a:srgbClr val="2D6A4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43E071-C6E0-462C-C9F5-7446F518B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949541-C4EA-E447-5009-1858E2CE7725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2284BA-6DA6-2233-7D10-F6F758A814F8}"/>
              </a:ext>
            </a:extLst>
          </p:cNvPr>
          <p:cNvSpPr txBox="1"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2600" b="1" dirty="0" err="1">
                <a:solidFill>
                  <a:srgbClr val="FFFFFF"/>
                </a:solidFill>
              </a:rPr>
              <a:t>Workflow</a:t>
            </a:r>
            <a:r>
              <a:rPr lang="cs-CZ" sz="2600" b="1" dirty="0">
                <a:solidFill>
                  <a:srgbClr val="FFFFFF"/>
                </a:solidFill>
              </a:rPr>
              <a:t> - GitHub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7FCED2-A691-C78D-7187-259299280B23}"/>
              </a:ext>
            </a:extLst>
          </p:cNvPr>
          <p:cNvSpPr/>
          <p:nvPr/>
        </p:nvSpPr>
        <p:spPr>
          <a:xfrm>
            <a:off x="2651760" y="856648"/>
            <a:ext cx="384048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FAF4EB-149D-ECDD-4C3A-E5AAC8994B5C}"/>
              </a:ext>
            </a:extLst>
          </p:cNvPr>
          <p:cNvSpPr/>
          <p:nvPr/>
        </p:nvSpPr>
        <p:spPr>
          <a:xfrm>
            <a:off x="2651760" y="856648"/>
            <a:ext cx="109728" cy="65836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8A083A-8BAD-65F7-4171-F81DD41C45C9}"/>
              </a:ext>
            </a:extLst>
          </p:cNvPr>
          <p:cNvSpPr txBox="1"/>
          <p:nvPr/>
        </p:nvSpPr>
        <p:spPr>
          <a:xfrm>
            <a:off x="2834640" y="1049449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1400" b="1" dirty="0" err="1">
                <a:solidFill>
                  <a:srgbClr val="1A2744"/>
                </a:solidFill>
                <a:latin typeface="Calibri"/>
              </a:rPr>
              <a:t>Repozitář</a:t>
            </a:r>
            <a:r>
              <a:rPr lang="cs-CZ" sz="1400" b="1" dirty="0">
                <a:solidFill>
                  <a:srgbClr val="1A2744"/>
                </a:solidFill>
                <a:latin typeface="Calibri"/>
              </a:rPr>
              <a:t> klonován na robota</a:t>
            </a:r>
            <a:endParaRPr sz="1400" b="1" i="0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9F8450-A814-380A-4F71-FE275FCE87A4}"/>
              </a:ext>
            </a:extLst>
          </p:cNvPr>
          <p:cNvSpPr/>
          <p:nvPr/>
        </p:nvSpPr>
        <p:spPr>
          <a:xfrm>
            <a:off x="4480560" y="1515016"/>
            <a:ext cx="73152" cy="146304"/>
          </a:xfrm>
          <a:prstGeom prst="rect">
            <a:avLst/>
          </a:prstGeom>
          <a:solidFill>
            <a:srgbClr val="556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693463-0A00-35A3-5D9B-BAFF4B63039D}"/>
              </a:ext>
            </a:extLst>
          </p:cNvPr>
          <p:cNvSpPr/>
          <p:nvPr/>
        </p:nvSpPr>
        <p:spPr>
          <a:xfrm>
            <a:off x="2651760" y="1661320"/>
            <a:ext cx="384048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C7AB1E-353A-0917-3BFE-14F4F5F370CE}"/>
              </a:ext>
            </a:extLst>
          </p:cNvPr>
          <p:cNvSpPr/>
          <p:nvPr/>
        </p:nvSpPr>
        <p:spPr>
          <a:xfrm>
            <a:off x="2651760" y="1661320"/>
            <a:ext cx="109728" cy="65836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657E24-AECB-AA11-8815-19D6CF7ED045}"/>
              </a:ext>
            </a:extLst>
          </p:cNvPr>
          <p:cNvSpPr/>
          <p:nvPr/>
        </p:nvSpPr>
        <p:spPr>
          <a:xfrm>
            <a:off x="4480560" y="2319688"/>
            <a:ext cx="73152" cy="146304"/>
          </a:xfrm>
          <a:prstGeom prst="rect">
            <a:avLst/>
          </a:prstGeom>
          <a:solidFill>
            <a:srgbClr val="556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CC2FD3-68C2-034A-3A98-9744DC95C93E}"/>
              </a:ext>
            </a:extLst>
          </p:cNvPr>
          <p:cNvSpPr/>
          <p:nvPr/>
        </p:nvSpPr>
        <p:spPr>
          <a:xfrm>
            <a:off x="2651760" y="2465992"/>
            <a:ext cx="384048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1943CA-F636-3646-0CC3-126AD3FFC22F}"/>
              </a:ext>
            </a:extLst>
          </p:cNvPr>
          <p:cNvSpPr/>
          <p:nvPr/>
        </p:nvSpPr>
        <p:spPr>
          <a:xfrm>
            <a:off x="2651760" y="2465992"/>
            <a:ext cx="109728" cy="65836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CC6A78-1FF8-E263-945D-42959F12475C}"/>
              </a:ext>
            </a:extLst>
          </p:cNvPr>
          <p:cNvSpPr/>
          <p:nvPr/>
        </p:nvSpPr>
        <p:spPr>
          <a:xfrm>
            <a:off x="4480560" y="3124360"/>
            <a:ext cx="73152" cy="146304"/>
          </a:xfrm>
          <a:prstGeom prst="rect">
            <a:avLst/>
          </a:prstGeom>
          <a:solidFill>
            <a:srgbClr val="556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CD3DEB-8105-7146-C668-EC7296D6DC06}"/>
              </a:ext>
            </a:extLst>
          </p:cNvPr>
          <p:cNvSpPr/>
          <p:nvPr/>
        </p:nvSpPr>
        <p:spPr>
          <a:xfrm>
            <a:off x="2651760" y="3270664"/>
            <a:ext cx="384048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13433D-25BA-7F79-BA16-0B0F0E09189E}"/>
              </a:ext>
            </a:extLst>
          </p:cNvPr>
          <p:cNvSpPr/>
          <p:nvPr/>
        </p:nvSpPr>
        <p:spPr>
          <a:xfrm>
            <a:off x="2651760" y="3270664"/>
            <a:ext cx="109728" cy="65836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9EAF0D7-419F-AED1-3DBF-AB5EE8DE0A02}"/>
              </a:ext>
            </a:extLst>
          </p:cNvPr>
          <p:cNvSpPr/>
          <p:nvPr/>
        </p:nvSpPr>
        <p:spPr>
          <a:xfrm>
            <a:off x="4480560" y="3929032"/>
            <a:ext cx="73152" cy="146304"/>
          </a:xfrm>
          <a:prstGeom prst="rect">
            <a:avLst/>
          </a:prstGeom>
          <a:solidFill>
            <a:srgbClr val="556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7F22DB7-02DA-90ED-D979-4B36986A4F14}"/>
              </a:ext>
            </a:extLst>
          </p:cNvPr>
          <p:cNvSpPr/>
          <p:nvPr/>
        </p:nvSpPr>
        <p:spPr>
          <a:xfrm>
            <a:off x="2651760" y="4075336"/>
            <a:ext cx="384048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8CEA86-E910-053D-02FE-771D14E2080D}"/>
              </a:ext>
            </a:extLst>
          </p:cNvPr>
          <p:cNvSpPr/>
          <p:nvPr/>
        </p:nvSpPr>
        <p:spPr>
          <a:xfrm>
            <a:off x="2651760" y="4075336"/>
            <a:ext cx="109728" cy="65836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5">
            <a:extLst>
              <a:ext uri="{FF2B5EF4-FFF2-40B4-BE49-F238E27FC236}">
                <a16:creationId xmlns:a16="http://schemas.microsoft.com/office/drawing/2014/main" id="{837ACDD1-3087-A457-60D0-78A5874BD8EA}"/>
              </a:ext>
            </a:extLst>
          </p:cNvPr>
          <p:cNvSpPr txBox="1"/>
          <p:nvPr/>
        </p:nvSpPr>
        <p:spPr>
          <a:xfrm>
            <a:off x="2706624" y="3443740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1400" b="1" dirty="0">
                <a:solidFill>
                  <a:srgbClr val="1A2744"/>
                </a:solidFill>
                <a:latin typeface="Calibri"/>
              </a:rPr>
              <a:t>SSH do robota, </a:t>
            </a:r>
            <a:r>
              <a:rPr lang="cs-CZ" sz="1400" b="1" dirty="0" err="1">
                <a:solidFill>
                  <a:srgbClr val="1A2744"/>
                </a:solidFill>
                <a:latin typeface="Calibri"/>
              </a:rPr>
              <a:t>git</a:t>
            </a:r>
            <a:r>
              <a:rPr lang="cs-CZ" sz="1400" b="1" dirty="0">
                <a:solidFill>
                  <a:srgbClr val="1A2744"/>
                </a:solidFill>
                <a:latin typeface="Calibri"/>
              </a:rPr>
              <a:t> </a:t>
            </a:r>
            <a:r>
              <a:rPr lang="cs-CZ" sz="1400" b="1" dirty="0" err="1">
                <a:solidFill>
                  <a:srgbClr val="1A2744"/>
                </a:solidFill>
                <a:latin typeface="Calibri"/>
              </a:rPr>
              <a:t>pull</a:t>
            </a:r>
            <a:endParaRPr sz="1400" b="1" i="0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29" name="TextBox 5">
            <a:extLst>
              <a:ext uri="{FF2B5EF4-FFF2-40B4-BE49-F238E27FC236}">
                <a16:creationId xmlns:a16="http://schemas.microsoft.com/office/drawing/2014/main" id="{749CB66F-1BAC-F34C-D356-B092F1D16E2A}"/>
              </a:ext>
            </a:extLst>
          </p:cNvPr>
          <p:cNvSpPr txBox="1"/>
          <p:nvPr/>
        </p:nvSpPr>
        <p:spPr>
          <a:xfrm>
            <a:off x="2734056" y="2642847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1400" b="1" dirty="0" err="1">
                <a:solidFill>
                  <a:srgbClr val="1A2744"/>
                </a:solidFill>
                <a:latin typeface="Calibri"/>
              </a:rPr>
              <a:t>Push</a:t>
            </a:r>
            <a:r>
              <a:rPr lang="cs-CZ" sz="1400" b="1" dirty="0">
                <a:solidFill>
                  <a:srgbClr val="1A2744"/>
                </a:solidFill>
                <a:latin typeface="Calibri"/>
              </a:rPr>
              <a:t> na GitHub</a:t>
            </a:r>
            <a:endParaRPr sz="1400" b="1" i="0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0" name="TextBox 5">
            <a:extLst>
              <a:ext uri="{FF2B5EF4-FFF2-40B4-BE49-F238E27FC236}">
                <a16:creationId xmlns:a16="http://schemas.microsoft.com/office/drawing/2014/main" id="{4A0F07D3-4901-6D56-EA5E-08A06BF3E792}"/>
              </a:ext>
            </a:extLst>
          </p:cNvPr>
          <p:cNvSpPr txBox="1"/>
          <p:nvPr/>
        </p:nvSpPr>
        <p:spPr>
          <a:xfrm>
            <a:off x="2788920" y="1835126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1400" b="1" dirty="0">
                <a:solidFill>
                  <a:srgbClr val="1A2744"/>
                </a:solidFill>
                <a:latin typeface="Calibri"/>
              </a:rPr>
              <a:t>Vývoj lokálně na PC</a:t>
            </a:r>
            <a:endParaRPr sz="1400" b="1" i="0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4" name="TextBox 5">
            <a:extLst>
              <a:ext uri="{FF2B5EF4-FFF2-40B4-BE49-F238E27FC236}">
                <a16:creationId xmlns:a16="http://schemas.microsoft.com/office/drawing/2014/main" id="{50711C68-5491-AA36-8F56-96409F0AB06C}"/>
              </a:ext>
            </a:extLst>
          </p:cNvPr>
          <p:cNvSpPr txBox="1"/>
          <p:nvPr/>
        </p:nvSpPr>
        <p:spPr>
          <a:xfrm>
            <a:off x="2834640" y="4250631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1400" b="1" dirty="0">
                <a:solidFill>
                  <a:srgbClr val="1A2744"/>
                </a:solidFill>
                <a:latin typeface="Calibri"/>
              </a:rPr>
              <a:t>Spuštění programu na robotovi</a:t>
            </a:r>
            <a:endParaRPr sz="1400" b="1" i="0" dirty="0">
              <a:solidFill>
                <a:srgbClr val="1A2744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1016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Calibri"/>
              </a:rPr>
              <a:t>Přehled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Calibri"/>
              </a:rPr>
              <a:t>řešení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 – </a:t>
            </a:r>
            <a:r>
              <a:rPr sz="2600" b="1" i="0" dirty="0" err="1">
                <a:solidFill>
                  <a:srgbClr val="FFFFFF"/>
                </a:solidFill>
                <a:latin typeface="Calibri"/>
              </a:rPr>
              <a:t>autonomní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Calibri"/>
              </a:rPr>
              <a:t>sekvence</a:t>
            </a:r>
            <a:endParaRPr sz="2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1920240"/>
            <a:ext cx="1325880" cy="7315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2040225"/>
            <a:ext cx="1325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 err="1">
                <a:solidFill>
                  <a:srgbClr val="FFFFFF"/>
                </a:solidFill>
                <a:latin typeface="Calibri"/>
              </a:rPr>
              <a:t>Hledání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
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garáže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Oval 5"/>
          <p:cNvSpPr/>
          <p:nvPr/>
        </p:nvSpPr>
        <p:spPr>
          <a:xfrm>
            <a:off x="1375257" y="1817827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5257" y="1817827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2744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00784" y="1920240"/>
            <a:ext cx="1325880" cy="7315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00784" y="2040225"/>
            <a:ext cx="1325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 err="1">
                <a:solidFill>
                  <a:srgbClr val="FFFFFF"/>
                </a:solidFill>
                <a:latin typeface="Calibri"/>
              </a:rPr>
              <a:t>Hledání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
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míčku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2847441" y="1817827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47441" y="1817827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2744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72968" y="1920240"/>
            <a:ext cx="1325880" cy="7315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72968" y="2040225"/>
            <a:ext cx="1325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 err="1">
                <a:solidFill>
                  <a:srgbClr val="FFFFFF"/>
                </a:solidFill>
                <a:latin typeface="Calibri"/>
              </a:rPr>
              <a:t>Centrování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
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na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míček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4319625" y="1817827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19625" y="1817827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2744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45152" y="1920240"/>
            <a:ext cx="1325880" cy="7315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45152" y="2040225"/>
            <a:ext cx="1325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 err="1">
                <a:solidFill>
                  <a:srgbClr val="FFFFFF"/>
                </a:solidFill>
                <a:latin typeface="Calibri"/>
              </a:rPr>
              <a:t>Přiblížení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
k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míčku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791809" y="1817827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91809" y="1817827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2744"/>
                </a:solidFill>
                <a:latin typeface="Calibr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17336" y="1920240"/>
            <a:ext cx="1325880" cy="7315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17336" y="2040225"/>
            <a:ext cx="1325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 err="1">
                <a:solidFill>
                  <a:srgbClr val="FFFFFF"/>
                </a:solidFill>
                <a:latin typeface="Calibri"/>
              </a:rPr>
              <a:t>Objetí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
</a:t>
            </a:r>
            <a:r>
              <a:rPr lang="cs-CZ" sz="1000" b="1" i="0" dirty="0">
                <a:solidFill>
                  <a:srgbClr val="FFFFFF"/>
                </a:solidFill>
                <a:latin typeface="Calibri"/>
              </a:rPr>
              <a:t>míčku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263993" y="1817827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63993" y="1817827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2744"/>
                </a:solidFill>
                <a:latin typeface="Calibri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1920240"/>
            <a:ext cx="1325880" cy="7315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0" y="2117169"/>
            <a:ext cx="13258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STOP</a:t>
            </a:r>
          </a:p>
        </p:txBody>
      </p:sp>
      <p:sp>
        <p:nvSpPr>
          <p:cNvPr id="26" name="Oval 25"/>
          <p:cNvSpPr/>
          <p:nvPr/>
        </p:nvSpPr>
        <p:spPr>
          <a:xfrm>
            <a:off x="8736177" y="1817827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36177" y="1817827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2744"/>
                </a:solidFill>
                <a:latin typeface="Calibri"/>
              </a:rP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54480" y="2240280"/>
            <a:ext cx="146304" cy="91440"/>
          </a:xfrm>
          <a:prstGeom prst="rect">
            <a:avLst/>
          </a:prstGeom>
          <a:solidFill>
            <a:srgbClr val="C8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026664" y="2240280"/>
            <a:ext cx="146304" cy="91440"/>
          </a:xfrm>
          <a:prstGeom prst="rect">
            <a:avLst/>
          </a:prstGeom>
          <a:solidFill>
            <a:srgbClr val="C8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498848" y="2240280"/>
            <a:ext cx="146304" cy="91440"/>
          </a:xfrm>
          <a:prstGeom prst="rect">
            <a:avLst/>
          </a:prstGeom>
          <a:solidFill>
            <a:srgbClr val="C8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71032" y="2240280"/>
            <a:ext cx="146304" cy="91440"/>
          </a:xfrm>
          <a:prstGeom prst="rect">
            <a:avLst/>
          </a:prstGeom>
          <a:solidFill>
            <a:srgbClr val="C8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443216" y="2240280"/>
            <a:ext cx="146304" cy="91440"/>
          </a:xfrm>
          <a:prstGeom prst="rect">
            <a:avLst/>
          </a:prstGeom>
          <a:solidFill>
            <a:srgbClr val="C8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28600" y="27249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655C"/>
                </a:solidFill>
                <a:latin typeface="Calibri"/>
              </a:rPr>
              <a:t>movement.py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00784" y="27249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655C"/>
                </a:solidFill>
                <a:latin typeface="Calibri"/>
              </a:rPr>
              <a:t>detection.py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72968" y="27249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655C"/>
                </a:solidFill>
                <a:latin typeface="Calibri"/>
              </a:rPr>
              <a:t>movement.py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5152" y="27249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655C"/>
                </a:solidFill>
                <a:latin typeface="Calibri"/>
              </a:rPr>
              <a:t>movement.py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17336" y="27249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655C"/>
                </a:solidFill>
                <a:latin typeface="Calibri"/>
              </a:rPr>
              <a:t>drive_around.py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27249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655C"/>
                </a:solidFill>
                <a:latin typeface="Calibri"/>
              </a:rPr>
              <a:t>main.py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4251960"/>
            <a:ext cx="8686800" cy="621792"/>
          </a:xfrm>
          <a:prstGeom prst="rect">
            <a:avLst/>
          </a:prstGeom>
          <a:solidFill>
            <a:srgbClr val="E8F5EE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1480" y="431596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6A4F"/>
                </a:solidFill>
                <a:latin typeface="Calibri"/>
              </a:rPr>
              <a:t>Sdílená kill-switch proměnná (safety.py) — každý krok ji kontroluje. Bumper callback ji nastaví na True ⟹ pohyb se ihned přeruší.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ED1648-42E2-2368-604D-2FA157B9A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6721A7-692E-3C95-AAE9-855891CF6199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80C402-E46A-57C2-85F5-34D2D3CC4CB1}"/>
              </a:ext>
            </a:extLst>
          </p:cNvPr>
          <p:cNvSpPr txBox="1"/>
          <p:nvPr/>
        </p:nvSpPr>
        <p:spPr>
          <a:xfrm>
            <a:off x="457200" y="109728"/>
            <a:ext cx="8229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2600" b="1" dirty="0">
                <a:solidFill>
                  <a:schemeClr val="bg1"/>
                </a:solidFill>
              </a:rPr>
              <a:t>Struktura Kódu – MODULY </a:t>
            </a:r>
          </a:p>
        </p:txBody>
      </p:sp>
      <p:graphicFrame>
        <p:nvGraphicFramePr>
          <p:cNvPr id="11" name="Tabulka 10">
            <a:extLst>
              <a:ext uri="{FF2B5EF4-FFF2-40B4-BE49-F238E27FC236}">
                <a16:creationId xmlns:a16="http://schemas.microsoft.com/office/drawing/2014/main" id="{CED2A3F1-20F3-15EA-F299-632308D85E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763694"/>
              </p:ext>
            </p:extLst>
          </p:nvPr>
        </p:nvGraphicFramePr>
        <p:xfrm>
          <a:off x="457200" y="1344930"/>
          <a:ext cx="8229600" cy="24536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1168716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5523580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 dirty="0">
                          <a:effectLst/>
                        </a:rPr>
                        <a:t>Modul</a:t>
                      </a:r>
                    </a:p>
                  </a:txBody>
                  <a:tcPr marL="82550" marR="82550" marT="38100" marB="38100" anchor="ctr">
                    <a:lnL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</a:rPr>
                        <a:t>Funkce</a:t>
                      </a:r>
                    </a:p>
                  </a:txBody>
                  <a:tcPr marL="82550" marR="82550" marT="38100" marB="38100" anchor="ctr">
                    <a:lnL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366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 dirty="0">
                          <a:effectLst/>
                        </a:rPr>
                        <a:t>main.py</a:t>
                      </a:r>
                      <a:endParaRPr lang="cs-CZ" dirty="0">
                        <a:effectLst/>
                      </a:endParaRPr>
                    </a:p>
                  </a:txBody>
                  <a:tcPr marL="82550" marR="82550" marT="38100" marB="38100" anchor="ctr">
                    <a:lnL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</a:rPr>
                        <a:t>Řídící smyčka, orchestrace</a:t>
                      </a:r>
                    </a:p>
                  </a:txBody>
                  <a:tcPr marL="82550" marR="82550" marT="38100" marB="38100" anchor="ctr">
                    <a:lnL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929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</a:rPr>
                        <a:t>vision.py</a:t>
                      </a:r>
                      <a:endParaRPr lang="cs-CZ">
                        <a:effectLst/>
                      </a:endParaRPr>
                    </a:p>
                  </a:txBody>
                  <a:tcPr marL="82550" marR="82550" marT="38100" marB="38100" anchor="ctr">
                    <a:lnL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</a:rPr>
                        <a:t>HSV prahování, CCL, detekce</a:t>
                      </a:r>
                    </a:p>
                  </a:txBody>
                  <a:tcPr marL="82550" marR="82550" marT="38100" marB="38100" anchor="ctr">
                    <a:lnL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83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</a:rPr>
                        <a:t>detection.py</a:t>
                      </a:r>
                      <a:endParaRPr lang="cs-CZ">
                        <a:effectLst/>
                      </a:endParaRPr>
                    </a:p>
                  </a:txBody>
                  <a:tcPr marL="82550" marR="82550" marT="38100" marB="38100" anchor="ctr">
                    <a:lnL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</a:rPr>
                        <a:t>Aktivní vyhledávání pilonu</a:t>
                      </a:r>
                    </a:p>
                  </a:txBody>
                  <a:tcPr marL="82550" marR="82550" marT="38100" marB="38100" anchor="ctr">
                    <a:lnL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772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</a:rPr>
                        <a:t>movement.py</a:t>
                      </a:r>
                      <a:endParaRPr lang="cs-CZ">
                        <a:effectLst/>
                      </a:endParaRPr>
                    </a:p>
                  </a:txBody>
                  <a:tcPr marL="82550" marR="82550" marT="38100" marB="38100" anchor="ctr">
                    <a:lnL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</a:rPr>
                        <a:t>Centrování, přibližování</a:t>
                      </a:r>
                    </a:p>
                  </a:txBody>
                  <a:tcPr marL="82550" marR="82550" marT="38100" marB="38100" anchor="ctr">
                    <a:lnL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196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</a:rPr>
                        <a:t>drive_around.py</a:t>
                      </a:r>
                      <a:endParaRPr lang="cs-CZ">
                        <a:effectLst/>
                      </a:endParaRPr>
                    </a:p>
                  </a:txBody>
                  <a:tcPr marL="82550" marR="82550" marT="38100" marB="38100" anchor="ctr">
                    <a:lnL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</a:rPr>
                        <a:t>Objektý manévr, odometrie</a:t>
                      </a:r>
                    </a:p>
                  </a:txBody>
                  <a:tcPr marL="82550" marR="82550" marT="38100" marB="38100" anchor="ctr">
                    <a:lnL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699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</a:rPr>
                        <a:t>safety.py</a:t>
                      </a:r>
                      <a:endParaRPr lang="cs-CZ">
                        <a:effectLst/>
                      </a:endParaRPr>
                    </a:p>
                  </a:txBody>
                  <a:tcPr marL="82550" marR="82550" marT="38100" marB="38100" anchor="ctr">
                    <a:lnL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dirty="0">
                          <a:effectLst/>
                        </a:rPr>
                        <a:t>Sdílený </a:t>
                      </a:r>
                      <a:r>
                        <a:rPr lang="cs-CZ" dirty="0" err="1">
                          <a:effectLst/>
                        </a:rPr>
                        <a:t>emergency</a:t>
                      </a:r>
                      <a:r>
                        <a:rPr lang="cs-CZ" dirty="0">
                          <a:effectLst/>
                        </a:rPr>
                        <a:t> stav</a:t>
                      </a:r>
                    </a:p>
                  </a:txBody>
                  <a:tcPr marL="82550" marR="82550" marT="38100" marB="38100" anchor="ctr">
                    <a:lnL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660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9244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Detekce míčku – HSV prahování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22960"/>
            <a:ext cx="384048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109728" cy="65836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85039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44"/>
                </a:solidFill>
                <a:latin typeface="Calibri"/>
              </a:rPr>
              <a:t>RGB → HSV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5C"/>
                </a:solidFill>
                <a:latin typeface="Calibri"/>
              </a:rPr>
              <a:t>Převod snímku do HSV prostoru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8840" y="1481328"/>
            <a:ext cx="73152" cy="146304"/>
          </a:xfrm>
          <a:prstGeom prst="rect">
            <a:avLst/>
          </a:prstGeom>
          <a:solidFill>
            <a:srgbClr val="556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627632"/>
            <a:ext cx="384048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627632"/>
            <a:ext cx="109728" cy="65836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65506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44"/>
                </a:solidFill>
                <a:latin typeface="Calibri"/>
              </a:rPr>
              <a:t>Binární maska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47672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5C"/>
                </a:solidFill>
                <a:latin typeface="Calibri"/>
              </a:rPr>
              <a:t>Prahování: H∈⟨37,74⟩  S∈⟨98,255⟩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" y="2286000"/>
            <a:ext cx="73152" cy="146304"/>
          </a:xfrm>
          <a:prstGeom prst="rect">
            <a:avLst/>
          </a:prstGeom>
          <a:solidFill>
            <a:srgbClr val="556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2432304"/>
            <a:ext cx="384048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2432304"/>
            <a:ext cx="109728" cy="65836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45973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44"/>
                </a:solidFill>
                <a:latin typeface="Calibri"/>
              </a:rPr>
              <a:t>Connected
Components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752344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5C"/>
                </a:solidFill>
                <a:latin typeface="Calibri"/>
              </a:rPr>
              <a:t>Analýza oblastí (cv2.connectedComponentsWithStats)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8840" y="3090672"/>
            <a:ext cx="73152" cy="146304"/>
          </a:xfrm>
          <a:prstGeom prst="rect">
            <a:avLst/>
          </a:prstGeom>
          <a:solidFill>
            <a:srgbClr val="556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3236976"/>
            <a:ext cx="384048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3236976"/>
            <a:ext cx="109728" cy="65836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26440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44"/>
                </a:solidFill>
                <a:latin typeface="Calibri"/>
              </a:rPr>
              <a:t>Filtr tvaru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55701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5C"/>
                </a:solidFill>
                <a:latin typeface="Calibri"/>
              </a:rPr>
              <a:t>Plocha 200–8000 px²,  poměr stran ≥ 0.75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3895344"/>
            <a:ext cx="73152" cy="146304"/>
          </a:xfrm>
          <a:prstGeom prst="rect">
            <a:avLst/>
          </a:prstGeom>
          <a:solidFill>
            <a:srgbClr val="556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4041648"/>
            <a:ext cx="384048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4041648"/>
            <a:ext cx="109728" cy="65836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406908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44"/>
                </a:solidFill>
                <a:latin typeface="Calibri"/>
              </a:rPr>
              <a:t>Těžiště (cx, cy)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361688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5C"/>
                </a:solidFill>
                <a:latin typeface="Calibri"/>
              </a:rPr>
              <a:t>Výstup: střed každé platné oblasti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9160" y="2020824"/>
            <a:ext cx="4206240" cy="1371600"/>
          </a:xfrm>
          <a:prstGeom prst="rect">
            <a:avLst/>
          </a:prstGeom>
          <a:solidFill>
            <a:srgbClr val="E8F5EE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0" y="206654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  <a:latin typeface="Calibri"/>
              </a:rPr>
              <a:t>Aktivní vyhledávání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2432304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5C"/>
                </a:solidFill>
                <a:latin typeface="Calibri"/>
              </a:rPr>
              <a:t>Robot se otáčí ω = 0.3 rad/s
dokud nedetekuje míček.
Pak zastaví a pokračuje.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Centrování &amp; vícefázové přiblížení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7724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6A4F"/>
                </a:solidFill>
                <a:latin typeface="Calibri"/>
              </a:rPr>
              <a:t>Centrování – P-regulátor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744"/>
                </a:solidFill>
                <a:latin typeface="Calibri"/>
              </a:rPr>
              <a:t>e = 320 − cx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744"/>
                </a:solidFill>
                <a:latin typeface="Calibri"/>
              </a:rPr>
              <a:t>ω = kp · e   (kp = 0.005)  |ω| ≤ 0.5 rad/s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655C"/>
                </a:solidFill>
                <a:latin typeface="Calibri"/>
              </a:rPr>
              <a:t>Hotovo při:  |e| ≤ 20 px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77724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00600" y="8229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6A4F"/>
                </a:solidFill>
                <a:latin typeface="Calibri"/>
              </a:rPr>
              <a:t>Vícefázové přiblížení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1280160"/>
            <a:ext cx="3840480" cy="502920"/>
          </a:xfrm>
          <a:prstGeom prst="rect">
            <a:avLst/>
          </a:prstGeom>
          <a:solidFill>
            <a:srgbClr val="E8F5EE"/>
          </a:solidFill>
          <a:ln w="190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73752" y="1316736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Fáze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316736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Hrubý dojezd na 1.0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8470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655C"/>
                </a:solidFill>
                <a:latin typeface="Calibri"/>
              </a:rPr>
              <a:t>↓ centrování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2194560"/>
            <a:ext cx="3840480" cy="502920"/>
          </a:xfrm>
          <a:prstGeom prst="rect">
            <a:avLst/>
          </a:prstGeom>
          <a:solidFill>
            <a:srgbClr val="E8F5EE"/>
          </a:solidFill>
          <a:ln w="1905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73752" y="2231136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2B788"/>
                </a:solidFill>
                <a:latin typeface="Calibri"/>
              </a:rPr>
              <a:t>Fáze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2231136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Střední dojezd na 0.5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7614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655C"/>
                </a:solidFill>
                <a:latin typeface="Calibri"/>
              </a:rPr>
              <a:t>↓ centrování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0600" y="3108960"/>
            <a:ext cx="3840480" cy="502920"/>
          </a:xfrm>
          <a:prstGeom prst="rect">
            <a:avLst/>
          </a:prstGeom>
          <a:solidFill>
            <a:srgbClr val="E8F5EE"/>
          </a:solidFill>
          <a:ln w="190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73752" y="3145536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Fáze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3145536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Finální dojezd na 0.3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6758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655C"/>
                </a:solidFill>
                <a:latin typeface="Calibri"/>
              </a:rPr>
              <a:t>Korekce vzdálenosti (±0.02 m)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834640"/>
            <a:ext cx="4114800" cy="1737360"/>
          </a:xfrm>
          <a:prstGeom prst="rect">
            <a:avLst/>
          </a:prstGeom>
          <a:solidFill>
            <a:srgbClr val="E8F5EE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90779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  <a:latin typeface="Calibri"/>
              </a:rPr>
              <a:t>Hloubková kamera (Point Cloud)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29184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5C"/>
                </a:solidFill>
                <a:latin typeface="Calibri"/>
              </a:rPr>
              <a:t>Vzdálenost = Z-složka bodu mračna
Průměr okna 5×5 px (eliminace NaN šumu)
Rychlost jízdy: v = 0.15 m/s (konstantní)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Objetí pilonu – odometrický manévr</a:t>
            </a:r>
          </a:p>
        </p:txBody>
      </p:sp>
      <p:sp>
        <p:nvSpPr>
          <p:cNvPr id="4" name="Oval 3"/>
          <p:cNvSpPr/>
          <p:nvPr/>
        </p:nvSpPr>
        <p:spPr>
          <a:xfrm>
            <a:off x="2035810" y="2406015"/>
            <a:ext cx="500380" cy="49149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121408" y="1252728"/>
            <a:ext cx="329184" cy="329184"/>
          </a:xfrm>
          <a:prstGeom prst="ellipse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90464" y="1869948"/>
            <a:ext cx="329184" cy="329184"/>
          </a:xfrm>
          <a:prstGeom prst="ellipse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190464" y="3085084"/>
            <a:ext cx="329184" cy="329184"/>
          </a:xfrm>
          <a:prstGeom prst="ellipse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121408" y="3721608"/>
            <a:ext cx="329184" cy="329184"/>
          </a:xfrm>
          <a:prstGeom prst="ellipse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52351" y="3104388"/>
            <a:ext cx="329184" cy="329184"/>
          </a:xfrm>
          <a:prstGeom prst="ellipse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52351" y="1869948"/>
            <a:ext cx="329184" cy="329184"/>
          </a:xfrm>
          <a:prstGeom prst="ellipse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11680" y="3977640"/>
            <a:ext cx="548640" cy="3200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11680" y="39776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6634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655C"/>
                </a:solidFill>
                <a:latin typeface="Calibri"/>
              </a:rPr>
              <a:t>Pohled shora: přibližný oblouk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77724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00600" y="84124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6A4F"/>
                </a:solidFill>
                <a:latin typeface="Calibri"/>
              </a:rPr>
              <a:t>Sekvence pohybů</a:t>
            </a:r>
          </a:p>
        </p:txBody>
      </p:sp>
      <p:sp>
        <p:nvSpPr>
          <p:cNvPr id="23" name="Oval 22"/>
          <p:cNvSpPr/>
          <p:nvPr/>
        </p:nvSpPr>
        <p:spPr>
          <a:xfrm>
            <a:off x="4828032" y="1325880"/>
            <a:ext cx="329184" cy="329184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28032" y="132588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1325880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Otočení  −60°</a:t>
            </a:r>
          </a:p>
        </p:txBody>
      </p:sp>
      <p:sp>
        <p:nvSpPr>
          <p:cNvPr id="26" name="Oval 25"/>
          <p:cNvSpPr/>
          <p:nvPr/>
        </p:nvSpPr>
        <p:spPr>
          <a:xfrm>
            <a:off x="4828032" y="1892807"/>
            <a:ext cx="329184" cy="329184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28032" y="1892807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1892807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× 5:  rovně 0.40 m  →  otočení +60°</a:t>
            </a:r>
          </a:p>
        </p:txBody>
      </p:sp>
      <p:sp>
        <p:nvSpPr>
          <p:cNvPr id="29" name="Oval 28"/>
          <p:cNvSpPr/>
          <p:nvPr/>
        </p:nvSpPr>
        <p:spPr>
          <a:xfrm>
            <a:off x="4828032" y="2459736"/>
            <a:ext cx="329184" cy="329184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28032" y="245973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0368" y="2459736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Rovně 0.16 m</a:t>
            </a:r>
          </a:p>
        </p:txBody>
      </p:sp>
      <p:sp>
        <p:nvSpPr>
          <p:cNvPr id="32" name="Oval 31"/>
          <p:cNvSpPr/>
          <p:nvPr/>
        </p:nvSpPr>
        <p:spPr>
          <a:xfrm>
            <a:off x="4828032" y="3026663"/>
            <a:ext cx="329184" cy="329184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28032" y="3026663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0368" y="3026663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Otočení  −90°  (korekce ke garáži)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4343400"/>
            <a:ext cx="4114800" cy="594360"/>
          </a:xfrm>
          <a:prstGeom prst="rect">
            <a:avLst/>
          </a:prstGeom>
          <a:solidFill>
            <a:srgbClr val="E8F5EE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00600" y="438912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6A4F"/>
                </a:solidFill>
                <a:latin typeface="Calibri"/>
              </a:rPr>
              <a:t>P-regulátor pro rotaci: ω = 0.8·eφ   |ω| ≤ 0.6 rad/s
Přesnost: tol. úhel 0.08 rad, tol. vzdálenost 0.03 m</a:t>
            </a:r>
          </a:p>
        </p:txBody>
      </p:sp>
      <p:cxnSp>
        <p:nvCxnSpPr>
          <p:cNvPr id="38" name="Přímá spojnice se šipkou 37">
            <a:extLst>
              <a:ext uri="{FF2B5EF4-FFF2-40B4-BE49-F238E27FC236}">
                <a16:creationId xmlns:a16="http://schemas.microsoft.com/office/drawing/2014/main" id="{3EFA1E75-3A44-1BE9-5872-A6AC25BFCA6A}"/>
              </a:ext>
            </a:extLst>
          </p:cNvPr>
          <p:cNvCxnSpPr>
            <a:endCxn id="14" idx="3"/>
          </p:cNvCxnSpPr>
          <p:nvPr/>
        </p:nvCxnSpPr>
        <p:spPr>
          <a:xfrm flipV="1">
            <a:off x="2450592" y="3336543"/>
            <a:ext cx="739872" cy="4224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Přímá spojnice se šipkou 39">
            <a:extLst>
              <a:ext uri="{FF2B5EF4-FFF2-40B4-BE49-F238E27FC236}">
                <a16:creationId xmlns:a16="http://schemas.microsoft.com/office/drawing/2014/main" id="{DA382A05-895A-726C-8D78-86F3650A459E}"/>
              </a:ext>
            </a:extLst>
          </p:cNvPr>
          <p:cNvCxnSpPr>
            <a:stCxn id="14" idx="0"/>
            <a:endCxn id="13" idx="4"/>
          </p:cNvCxnSpPr>
          <p:nvPr/>
        </p:nvCxnSpPr>
        <p:spPr>
          <a:xfrm flipV="1">
            <a:off x="3355056" y="2199132"/>
            <a:ext cx="0" cy="885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Přímá spojnice se šipkou 41">
            <a:extLst>
              <a:ext uri="{FF2B5EF4-FFF2-40B4-BE49-F238E27FC236}">
                <a16:creationId xmlns:a16="http://schemas.microsoft.com/office/drawing/2014/main" id="{6D2DA017-5D9A-35CB-84FC-2E90DA7B20C6}"/>
              </a:ext>
            </a:extLst>
          </p:cNvPr>
          <p:cNvCxnSpPr>
            <a:stCxn id="13" idx="1"/>
            <a:endCxn id="12" idx="6"/>
          </p:cNvCxnSpPr>
          <p:nvPr/>
        </p:nvCxnSpPr>
        <p:spPr>
          <a:xfrm flipH="1" flipV="1">
            <a:off x="2450592" y="1417320"/>
            <a:ext cx="788080" cy="5008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Přímá spojnice se šipkou 43">
            <a:extLst>
              <a:ext uri="{FF2B5EF4-FFF2-40B4-BE49-F238E27FC236}">
                <a16:creationId xmlns:a16="http://schemas.microsoft.com/office/drawing/2014/main" id="{F0E05A13-D156-B86D-83AB-73841AAE2CBD}"/>
              </a:ext>
            </a:extLst>
          </p:cNvPr>
          <p:cNvCxnSpPr>
            <a:stCxn id="12" idx="2"/>
            <a:endCxn id="17" idx="7"/>
          </p:cNvCxnSpPr>
          <p:nvPr/>
        </p:nvCxnSpPr>
        <p:spPr>
          <a:xfrm flipH="1">
            <a:off x="1333327" y="1417320"/>
            <a:ext cx="788081" cy="5008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Přímá spojnice se šipkou 45">
            <a:extLst>
              <a:ext uri="{FF2B5EF4-FFF2-40B4-BE49-F238E27FC236}">
                <a16:creationId xmlns:a16="http://schemas.microsoft.com/office/drawing/2014/main" id="{C36849E3-F305-75C4-D69F-8BDF5AB06811}"/>
              </a:ext>
            </a:extLst>
          </p:cNvPr>
          <p:cNvCxnSpPr>
            <a:stCxn id="17" idx="4"/>
            <a:endCxn id="16" idx="0"/>
          </p:cNvCxnSpPr>
          <p:nvPr/>
        </p:nvCxnSpPr>
        <p:spPr>
          <a:xfrm>
            <a:off x="1216943" y="2199132"/>
            <a:ext cx="0" cy="9052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Přímá spojnice se šipkou 47">
            <a:extLst>
              <a:ext uri="{FF2B5EF4-FFF2-40B4-BE49-F238E27FC236}">
                <a16:creationId xmlns:a16="http://schemas.microsoft.com/office/drawing/2014/main" id="{56FCBB24-3CAA-D0D6-7730-0230EE0BD0E4}"/>
              </a:ext>
            </a:extLst>
          </p:cNvPr>
          <p:cNvCxnSpPr>
            <a:stCxn id="16" idx="5"/>
            <a:endCxn id="15" idx="2"/>
          </p:cNvCxnSpPr>
          <p:nvPr/>
        </p:nvCxnSpPr>
        <p:spPr>
          <a:xfrm>
            <a:off x="1333327" y="3385364"/>
            <a:ext cx="836289" cy="3844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Dosah řešení &amp; co dál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2296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109728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  <a:latin typeface="Calibri"/>
              </a:rPr>
              <a:t>Splněno – Úloha úrovně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216152"/>
            <a:ext cx="8138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5C"/>
                </a:solidFill>
                <a:latin typeface="Calibri"/>
              </a:rPr>
              <a:t>Robot najde míček, přiblíží se a objede ho. Splněno s 90% úspěšností v 10 pokusech.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2880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828800"/>
            <a:ext cx="109728" cy="868680"/>
          </a:xfrm>
          <a:prstGeom prst="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8745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4444"/>
                </a:solidFill>
                <a:latin typeface="Calibri"/>
              </a:rPr>
              <a:t>Nesplněno – Úloha úrovně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221992"/>
            <a:ext cx="8138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5C"/>
                </a:solidFill>
                <a:latin typeface="Calibri"/>
              </a:rPr>
              <a:t>Návrat do garáže. Detekce vjezdu (fialové sloupky) i přibližovací logika byly naimplementovány a otestovány, ale spolehlivost nebyla dostatečná pro předvedení.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83464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2834640"/>
            <a:ext cx="109728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28803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44"/>
                </a:solidFill>
                <a:latin typeface="Calibri"/>
              </a:rPr>
              <a:t>Hlavní limita: HSV osvětlení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227832"/>
            <a:ext cx="8138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55655C"/>
                </a:solidFill>
                <a:latin typeface="Calibri"/>
              </a:rPr>
              <a:t>Detekce</a:t>
            </a:r>
            <a:r>
              <a:rPr lang="cs-CZ" sz="1100" b="0" i="0" dirty="0">
                <a:solidFill>
                  <a:srgbClr val="55655C"/>
                </a:solidFill>
                <a:latin typeface="Calibri"/>
              </a:rPr>
              <a:t> </a:t>
            </a:r>
            <a:r>
              <a:rPr lang="cs-CZ" sz="1100" b="0" i="0" dirty="0" err="1">
                <a:solidFill>
                  <a:srgbClr val="55655C"/>
                </a:solidFill>
                <a:latin typeface="Calibri"/>
              </a:rPr>
              <a:t>pilonu</a:t>
            </a:r>
            <a:r>
              <a:rPr sz="1100" b="0" i="0" dirty="0">
                <a:solidFill>
                  <a:srgbClr val="55655C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5655C"/>
                </a:solidFill>
                <a:latin typeface="Calibri"/>
              </a:rPr>
              <a:t>fialových</a:t>
            </a:r>
            <a:r>
              <a:rPr sz="1100" b="0" i="0" dirty="0">
                <a:solidFill>
                  <a:srgbClr val="55655C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5655C"/>
                </a:solidFill>
                <a:latin typeface="Calibri"/>
              </a:rPr>
              <a:t>sloupků</a:t>
            </a:r>
            <a:r>
              <a:rPr sz="1100" b="0" i="0" dirty="0">
                <a:solidFill>
                  <a:srgbClr val="55655C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5655C"/>
                </a:solidFill>
                <a:latin typeface="Calibri"/>
              </a:rPr>
              <a:t>vjezdu</a:t>
            </a:r>
            <a:r>
              <a:rPr sz="1100" b="0" i="0" dirty="0">
                <a:solidFill>
                  <a:srgbClr val="55655C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5655C"/>
                </a:solidFill>
                <a:latin typeface="Calibri"/>
              </a:rPr>
              <a:t>byla</a:t>
            </a:r>
            <a:r>
              <a:rPr sz="1100" b="0" i="0" dirty="0">
                <a:solidFill>
                  <a:srgbClr val="55655C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5655C"/>
                </a:solidFill>
                <a:latin typeface="Calibri"/>
              </a:rPr>
              <a:t>citlivá</a:t>
            </a:r>
            <a:r>
              <a:rPr sz="1100" b="0" i="0" dirty="0">
                <a:solidFill>
                  <a:srgbClr val="55655C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5655C"/>
                </a:solidFill>
                <a:latin typeface="Calibri"/>
              </a:rPr>
              <a:t>na</a:t>
            </a:r>
            <a:r>
              <a:rPr sz="1100" b="0" i="0" dirty="0">
                <a:solidFill>
                  <a:srgbClr val="55655C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5655C"/>
                </a:solidFill>
                <a:latin typeface="Calibri"/>
              </a:rPr>
              <a:t>změny</a:t>
            </a:r>
            <a:r>
              <a:rPr sz="1100" b="0" i="0" dirty="0">
                <a:solidFill>
                  <a:srgbClr val="55655C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5655C"/>
                </a:solidFill>
                <a:latin typeface="Calibri"/>
              </a:rPr>
              <a:t>osvětlení</a:t>
            </a:r>
            <a:r>
              <a:rPr sz="1100" b="0" i="0" dirty="0">
                <a:solidFill>
                  <a:srgbClr val="55655C"/>
                </a:solidFill>
                <a:latin typeface="Calibri"/>
              </a:rPr>
              <a:t> — </a:t>
            </a:r>
            <a:r>
              <a:rPr sz="1100" b="0" i="0" dirty="0" err="1">
                <a:solidFill>
                  <a:srgbClr val="55655C"/>
                </a:solidFill>
                <a:latin typeface="Calibri"/>
              </a:rPr>
              <a:t>parametry</a:t>
            </a:r>
            <a:r>
              <a:rPr sz="1100" b="0" i="0" dirty="0">
                <a:solidFill>
                  <a:srgbClr val="55655C"/>
                </a:solidFill>
                <a:latin typeface="Calibri"/>
              </a:rPr>
              <a:t> z </a:t>
            </a:r>
            <a:r>
              <a:rPr sz="1100" b="0" i="0" dirty="0" err="1">
                <a:solidFill>
                  <a:srgbClr val="55655C"/>
                </a:solidFill>
                <a:latin typeface="Calibri"/>
              </a:rPr>
              <a:t>jedné</a:t>
            </a:r>
            <a:r>
              <a:rPr sz="1100" b="0" i="0" dirty="0">
                <a:solidFill>
                  <a:srgbClr val="55655C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5655C"/>
                </a:solidFill>
                <a:latin typeface="Calibri"/>
              </a:rPr>
              <a:t>části</a:t>
            </a:r>
            <a:r>
              <a:rPr sz="1100" b="0" i="0" dirty="0">
                <a:solidFill>
                  <a:srgbClr val="55655C"/>
                </a:solidFill>
                <a:latin typeface="Calibri"/>
              </a:rPr>
              <a:t> lab. </a:t>
            </a:r>
            <a:r>
              <a:rPr sz="1100" b="0" i="0" dirty="0" err="1">
                <a:solidFill>
                  <a:srgbClr val="55655C"/>
                </a:solidFill>
                <a:latin typeface="Calibri"/>
              </a:rPr>
              <a:t>nebyly</a:t>
            </a:r>
            <a:r>
              <a:rPr sz="1100" b="0" i="0" dirty="0">
                <a:solidFill>
                  <a:srgbClr val="55655C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5655C"/>
                </a:solidFill>
                <a:latin typeface="Calibri"/>
              </a:rPr>
              <a:t>vždy</a:t>
            </a:r>
            <a:r>
              <a:rPr sz="1100" b="0" i="0" dirty="0">
                <a:solidFill>
                  <a:srgbClr val="55655C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5655C"/>
                </a:solidFill>
                <a:latin typeface="Calibri"/>
              </a:rPr>
              <a:t>přenositelné</a:t>
            </a:r>
            <a:r>
              <a:rPr sz="1100" b="0" i="0" dirty="0">
                <a:solidFill>
                  <a:srgbClr val="55655C"/>
                </a:solidFill>
                <a:latin typeface="Calibri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84048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3840480"/>
            <a:ext cx="109728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38862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44"/>
                </a:solidFill>
                <a:latin typeface="Calibri"/>
              </a:rPr>
              <a:t>Možné vylepšení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4233672"/>
            <a:ext cx="8138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55655C"/>
                </a:solidFill>
                <a:latin typeface="Calibri"/>
              </a:rPr>
              <a:t>Adaptivní</a:t>
            </a:r>
            <a:r>
              <a:rPr sz="1100" b="0" i="0" dirty="0">
                <a:solidFill>
                  <a:srgbClr val="55655C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5655C"/>
                </a:solidFill>
                <a:latin typeface="Calibri"/>
              </a:rPr>
              <a:t>kalibrace</a:t>
            </a:r>
            <a:r>
              <a:rPr sz="1100" b="0" i="0" dirty="0">
                <a:solidFill>
                  <a:srgbClr val="55655C"/>
                </a:solidFill>
                <a:latin typeface="Calibri"/>
              </a:rPr>
              <a:t> HSV</a:t>
            </a:r>
            <a:r>
              <a:rPr lang="cs-CZ" sz="1100" b="0" i="0" dirty="0">
                <a:solidFill>
                  <a:srgbClr val="55655C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55655C"/>
                </a:solidFill>
                <a:latin typeface="Calibri"/>
              </a:rPr>
              <a:t>nebo</a:t>
            </a:r>
            <a:r>
              <a:rPr sz="1100" b="0" i="0" dirty="0">
                <a:solidFill>
                  <a:srgbClr val="55655C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5655C"/>
                </a:solidFill>
                <a:latin typeface="Calibri"/>
              </a:rPr>
              <a:t>odometrická</a:t>
            </a:r>
            <a:r>
              <a:rPr sz="1100" b="0" i="0" dirty="0">
                <a:solidFill>
                  <a:srgbClr val="55655C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5655C"/>
                </a:solidFill>
                <a:latin typeface="Calibri"/>
              </a:rPr>
              <a:t>navigace</a:t>
            </a:r>
            <a:r>
              <a:rPr sz="1100" b="0" i="0" dirty="0">
                <a:solidFill>
                  <a:srgbClr val="55655C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5655C"/>
                </a:solidFill>
                <a:latin typeface="Calibri"/>
              </a:rPr>
              <a:t>zpět</a:t>
            </a:r>
            <a:r>
              <a:rPr sz="1100" b="0" i="0" dirty="0">
                <a:solidFill>
                  <a:srgbClr val="55655C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5655C"/>
                </a:solidFill>
                <a:latin typeface="Calibri"/>
              </a:rPr>
              <a:t>ke</a:t>
            </a:r>
            <a:r>
              <a:rPr sz="1100" b="0" i="0" dirty="0">
                <a:solidFill>
                  <a:srgbClr val="55655C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5655C"/>
                </a:solidFill>
                <a:latin typeface="Calibri"/>
              </a:rPr>
              <a:t>garáži</a:t>
            </a:r>
            <a:endParaRPr sz="1100" b="0" i="0" dirty="0">
              <a:solidFill>
                <a:srgbClr val="55655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Výsledky testování (10 pokusů)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822960"/>
            <a:ext cx="2560320" cy="18288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90 %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19072"/>
            <a:ext cx="2560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 err="1">
                <a:solidFill>
                  <a:srgbClr val="FFFFFF"/>
                </a:solidFill>
                <a:latin typeface="Calibri"/>
              </a:rPr>
              <a:t>Celková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
</a:t>
            </a:r>
            <a:r>
              <a:rPr sz="1100" b="0" i="0" dirty="0" err="1">
                <a:solidFill>
                  <a:srgbClr val="FFFFFF"/>
                </a:solidFill>
                <a:latin typeface="Calibri"/>
              </a:rPr>
              <a:t>úspěšnost</a:t>
            </a:r>
            <a:endParaRPr sz="11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Oval 6"/>
          <p:cNvSpPr/>
          <p:nvPr/>
        </p:nvSpPr>
        <p:spPr>
          <a:xfrm>
            <a:off x="3383280" y="822960"/>
            <a:ext cx="2560320" cy="182880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0" y="9144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100 %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719072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Reakce
nárazníku</a:t>
            </a:r>
          </a:p>
        </p:txBody>
      </p:sp>
      <p:sp>
        <p:nvSpPr>
          <p:cNvPr id="10" name="Oval 9"/>
          <p:cNvSpPr/>
          <p:nvPr/>
        </p:nvSpPr>
        <p:spPr>
          <a:xfrm>
            <a:off x="6309360" y="822960"/>
            <a:ext cx="2560320" cy="18288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9144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0.05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19072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Průměrná chyba
dojezdu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662978"/>
              </p:ext>
            </p:extLst>
          </p:nvPr>
        </p:nvGraphicFramePr>
        <p:xfrm>
          <a:off x="320040" y="2880360"/>
          <a:ext cx="85039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Hodnocený krok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Pokusy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Úspěšnost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Detekce míčku za jízdy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Calibri"/>
                        </a:rPr>
                        <a:t>90 %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Přiblížení k míčku</a:t>
                      </a:r>
                    </a:p>
                  </a:txBody>
                  <a:tcPr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Calibri"/>
                        </a:rPr>
                        <a:t>100 %</a:t>
                      </a:r>
                    </a:p>
                  </a:txBody>
                  <a:tcPr>
                    <a:solidFill>
                      <a:srgbClr val="E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dirty="0" err="1">
                          <a:latin typeface="Calibri"/>
                        </a:rPr>
                        <a:t>Objetí</a:t>
                      </a:r>
                      <a:r>
                        <a:rPr sz="1100" dirty="0">
                          <a:latin typeface="Calibri"/>
                        </a:rPr>
                        <a:t> </a:t>
                      </a:r>
                      <a:r>
                        <a:rPr lang="cs-CZ" sz="1100" dirty="0">
                          <a:latin typeface="Calibri"/>
                        </a:rPr>
                        <a:t>míčku</a:t>
                      </a:r>
                      <a:endParaRPr sz="1100" dirty="0"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Calibri"/>
                        </a:rPr>
                        <a:t>100 %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Celá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 (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úloha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úrovně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 1)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90 %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Výzvy &amp; závěr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4114800" cy="1371600"/>
          </a:xfrm>
          <a:prstGeom prst="rect">
            <a:avLst/>
          </a:prstGeom>
          <a:solidFill>
            <a:srgbClr val="223558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1615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2B788"/>
                </a:solidFill>
                <a:latin typeface="Calibri"/>
              </a:rPr>
              <a:t>HSV závislé na osvětlení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D0"/>
                </a:solidFill>
                <a:latin typeface="Calibri"/>
              </a:rPr>
              <a:t>Parametry z jedné části laboratoře nebyly vždy přenositelné. Řešení: opatrná kalibrace, větší toleranční pásma.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600" y="1143000"/>
            <a:ext cx="4114800" cy="1371600"/>
          </a:xfrm>
          <a:prstGeom prst="rect">
            <a:avLst/>
          </a:prstGeom>
          <a:solidFill>
            <a:srgbClr val="223558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0" y="121615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2B788"/>
                </a:solidFill>
                <a:latin typeface="Calibri"/>
              </a:rPr>
              <a:t>Drift odometrie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00200"/>
            <a:ext cx="3840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C8D8D0"/>
                </a:solidFill>
                <a:latin typeface="Calibri"/>
              </a:rPr>
              <a:t>Někteří</a:t>
            </a:r>
            <a:r>
              <a:rPr sz="1000" b="0" i="0" dirty="0">
                <a:solidFill>
                  <a:srgbClr val="C8D8D0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C8D8D0"/>
                </a:solidFill>
                <a:latin typeface="Calibri"/>
              </a:rPr>
              <a:t>roboti</a:t>
            </a:r>
            <a:r>
              <a:rPr sz="1000" b="0" i="0" dirty="0">
                <a:solidFill>
                  <a:srgbClr val="C8D8D0"/>
                </a:solidFill>
                <a:latin typeface="Calibri"/>
              </a:rPr>
              <a:t> </a:t>
            </a:r>
            <a:r>
              <a:rPr lang="cs-CZ" sz="1000" dirty="0">
                <a:solidFill>
                  <a:srgbClr val="C8D8D0"/>
                </a:solidFill>
                <a:latin typeface="Calibri"/>
              </a:rPr>
              <a:t>nedrží přesně </a:t>
            </a:r>
            <a:r>
              <a:rPr lang="cs-CZ" sz="1000" dirty="0" err="1">
                <a:solidFill>
                  <a:srgbClr val="C8D8D0"/>
                </a:solidFill>
                <a:latin typeface="Calibri"/>
              </a:rPr>
              <a:t>odometrii</a:t>
            </a:r>
            <a:r>
              <a:rPr sz="1000" b="0" i="0" dirty="0">
                <a:solidFill>
                  <a:srgbClr val="C8D8D0"/>
                </a:solidFill>
                <a:latin typeface="Calibri"/>
              </a:rPr>
              <a:t>. </a:t>
            </a:r>
            <a:r>
              <a:rPr sz="1000" b="0" i="0" dirty="0" err="1">
                <a:solidFill>
                  <a:srgbClr val="C8D8D0"/>
                </a:solidFill>
                <a:latin typeface="Calibri"/>
              </a:rPr>
              <a:t>Kompenzace</a:t>
            </a:r>
            <a:r>
              <a:rPr sz="1000" b="0" i="0" dirty="0">
                <a:solidFill>
                  <a:srgbClr val="C8D8D0"/>
                </a:solidFill>
                <a:latin typeface="Calibri"/>
              </a:rPr>
              <a:t>: </a:t>
            </a:r>
            <a:r>
              <a:rPr sz="1000" b="0" i="0" dirty="0" err="1">
                <a:solidFill>
                  <a:srgbClr val="C8D8D0"/>
                </a:solidFill>
                <a:latin typeface="Calibri"/>
              </a:rPr>
              <a:t>průběžné</a:t>
            </a:r>
            <a:r>
              <a:rPr sz="1000" b="0" i="0" dirty="0">
                <a:solidFill>
                  <a:srgbClr val="C8D8D0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C8D8D0"/>
                </a:solidFill>
                <a:latin typeface="Calibri"/>
              </a:rPr>
              <a:t>vizuální</a:t>
            </a:r>
            <a:r>
              <a:rPr sz="1000" b="0" i="0" dirty="0">
                <a:solidFill>
                  <a:srgbClr val="C8D8D0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C8D8D0"/>
                </a:solidFill>
                <a:latin typeface="Calibri"/>
              </a:rPr>
              <a:t>centrování</a:t>
            </a:r>
            <a:r>
              <a:rPr sz="1000" b="0" i="0" dirty="0">
                <a:solidFill>
                  <a:srgbClr val="C8D8D0"/>
                </a:solidFill>
                <a:latin typeface="Calibri"/>
              </a:rPr>
              <a:t> po </a:t>
            </a:r>
            <a:r>
              <a:rPr sz="1000" b="0" i="0" dirty="0" err="1">
                <a:solidFill>
                  <a:srgbClr val="C8D8D0"/>
                </a:solidFill>
                <a:latin typeface="Calibri"/>
              </a:rPr>
              <a:t>každé</a:t>
            </a:r>
            <a:r>
              <a:rPr sz="1000" b="0" i="0" dirty="0">
                <a:solidFill>
                  <a:srgbClr val="C8D8D0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C8D8D0"/>
                </a:solidFill>
                <a:latin typeface="Calibri"/>
              </a:rPr>
              <a:t>fázi</a:t>
            </a:r>
            <a:r>
              <a:rPr sz="1000" b="0" i="0" dirty="0">
                <a:solidFill>
                  <a:srgbClr val="C8D8D0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C8D8D0"/>
                </a:solidFill>
                <a:latin typeface="Calibri"/>
              </a:rPr>
              <a:t>přiblížení</a:t>
            </a:r>
            <a:r>
              <a:rPr sz="1000" b="0" i="0" dirty="0">
                <a:solidFill>
                  <a:srgbClr val="C8D8D0"/>
                </a:solidFill>
                <a:latin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97480"/>
            <a:ext cx="4114800" cy="1371600"/>
          </a:xfrm>
          <a:prstGeom prst="rect">
            <a:avLst/>
          </a:prstGeom>
          <a:solidFill>
            <a:srgbClr val="223558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77063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2B788"/>
                </a:solidFill>
                <a:latin typeface="Calibri"/>
              </a:rPr>
              <a:t>Duplicitní bumper callback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546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D0"/>
                </a:solidFill>
                <a:latin typeface="Calibri"/>
              </a:rPr>
              <a:t>ROS posílal signal vícekrát. Řešení: latched proměnná v safety.py – po prvním nárazu ignoruje další volání.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600" y="2697480"/>
            <a:ext cx="4114800" cy="1371600"/>
          </a:xfrm>
          <a:prstGeom prst="rect">
            <a:avLst/>
          </a:prstGeom>
          <a:solidFill>
            <a:srgbClr val="223558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0" y="277063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2B788"/>
                </a:solidFill>
                <a:latin typeface="Calibri"/>
              </a:rPr>
              <a:t>Slepý úhel kamery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1546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D0"/>
                </a:solidFill>
                <a:latin typeface="Calibri"/>
              </a:rPr>
              <a:t>Příliš blízko k míčku → míček vypadne ze záběru. Proto stop na 0.3 m – bezpečný kompromis.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51960"/>
            <a:ext cx="8229600" cy="36576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3159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2B788"/>
                </a:solidFill>
                <a:latin typeface="Calibri"/>
              </a:rPr>
              <a:t>Výsledek: Úloha úroveň 1 splněna — 90% úspěšnost  ·  Díky za pozornost!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1668</Words>
  <Application>Microsoft Office PowerPoint</Application>
  <PresentationFormat>Předvádění na obrazovce (16:9)</PresentationFormat>
  <Paragraphs>153</Paragraphs>
  <Slides>11</Slides>
  <Notes>11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Tonda Šmída</cp:lastModifiedBy>
  <cp:revision>3</cp:revision>
  <dcterms:created xsi:type="dcterms:W3CDTF">2013-01-27T09:14:16Z</dcterms:created>
  <dcterms:modified xsi:type="dcterms:W3CDTF">2026-05-20T09:52:30Z</dcterms:modified>
  <cp:category/>
</cp:coreProperties>
</file>